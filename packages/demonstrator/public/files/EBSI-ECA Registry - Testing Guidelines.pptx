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57" r:id="rId4"/>
    <p:sldId id="260" r:id="rId5"/>
    <p:sldId id="261" r:id="rId6"/>
    <p:sldId id="262" r:id="rId7"/>
    <p:sldId id="265" r:id="rId8"/>
    <p:sldId id="270" r:id="rId9"/>
    <p:sldId id="263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00A9-8190-404C-B5EC-211579345F45}" type="datetimeFigureOut">
              <a:rPr lang="en-GB" smtClean="0"/>
              <a:t>23/01/2020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8B9EF-6D81-4082-85EA-574774C5A5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97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83677-9794-4E48-8853-B3DFC7914821}" type="datetime1">
              <a:rPr lang="en-GB" smtClean="0"/>
              <a:t>23/01/2020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205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41BD-4042-4246-A89D-31BFAF35521C}" type="datetime1">
              <a:rPr lang="en-GB" smtClean="0"/>
              <a:t>23/01/2020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58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B327-C1E7-437D-AB65-3FCE2EA70EB8}" type="datetime1">
              <a:rPr lang="en-GB" smtClean="0"/>
              <a:t>23/01/2020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39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73851-5042-4C99-B00F-1411E828C096}" type="datetime1">
              <a:rPr lang="en-GB" smtClean="0"/>
              <a:t>23/01/2020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996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5E59E-C0E8-4EE4-9EFD-22806A239797}" type="datetime1">
              <a:rPr lang="en-GB" smtClean="0"/>
              <a:t>23/01/2020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58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9DA9-5F33-427D-9F97-65132A08FAC9}" type="datetime1">
              <a:rPr lang="en-GB" smtClean="0"/>
              <a:t>23/01/2020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341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2D21F-E702-480B-BBC6-8A394B1372EC}" type="datetime1">
              <a:rPr lang="en-GB" smtClean="0"/>
              <a:t>23/01/2020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2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FE39-ACBC-4FD2-AE58-532A238E48E8}" type="datetime1">
              <a:rPr lang="en-GB" smtClean="0"/>
              <a:t>23/01/2020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88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220-6A52-4ECE-95E2-8E7C84A09573}" type="datetime1">
              <a:rPr lang="en-GB" smtClean="0"/>
              <a:t>23/01/2020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83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F8AA3-B102-480E-992B-3A778F566A1A}" type="datetime1">
              <a:rPr lang="en-GB" smtClean="0"/>
              <a:t>23/01/2020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00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4B6B-DB25-4C7E-9C0B-CFC9F11A1EF2}" type="datetime1">
              <a:rPr lang="en-GB" smtClean="0"/>
              <a:t>23/01/2020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81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087DD-9D37-46EB-BF5F-88BD137DA994}" type="datetime1">
              <a:rPr lang="en-GB" smtClean="0"/>
              <a:t>23/01/2020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824F8-BA0F-4D89-9CE9-9516AAEF3A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1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eca.europa.eu/register" TargetMode="External"/><Relationship Id="rId2" Type="http://schemas.openxmlformats.org/officeDocument/2006/relationships/hyperlink" Target="https://registry.eca.europa.e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mailto:denis@compell.io" TargetMode="External"/><Relationship Id="rId4" Type="http://schemas.openxmlformats.org/officeDocument/2006/relationships/hyperlink" Target="mailto:mirko.Iaconisi@eca.europa.eu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registry.eca.europa.eu/registe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mailto:denis@compell.io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denis@compell.io" TargetMode="External"/><Relationship Id="rId2" Type="http://schemas.openxmlformats.org/officeDocument/2006/relationships/hyperlink" Target="mailto:mirko.Iaconisi@eca.europa.e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66850" y="1135063"/>
            <a:ext cx="9144000" cy="3586406"/>
          </a:xfrm>
        </p:spPr>
        <p:txBody>
          <a:bodyPr>
            <a:normAutofit/>
          </a:bodyPr>
          <a:lstStyle/>
          <a:p>
            <a:r>
              <a:rPr lang="en-GB" sz="4000" dirty="0" smtClean="0"/>
              <a:t>ECA Registry – EBSI integration</a:t>
            </a:r>
          </a:p>
          <a:p>
            <a:endParaRPr lang="en-GB" dirty="0" smtClean="0"/>
          </a:p>
          <a:p>
            <a:r>
              <a:rPr lang="en-GB" sz="3600" dirty="0" smtClean="0">
                <a:solidFill>
                  <a:schemeClr val="accent1">
                    <a:lumMod val="75000"/>
                  </a:schemeClr>
                </a:solidFill>
              </a:rPr>
              <a:t>Testing guidelines</a:t>
            </a:r>
          </a:p>
          <a:p>
            <a:endParaRPr lang="en-GB" dirty="0"/>
          </a:p>
          <a:p>
            <a:r>
              <a:rPr lang="en-GB" sz="1600" dirty="0" smtClean="0"/>
              <a:t>Mirko Iaconisi</a:t>
            </a:r>
            <a:br>
              <a:rPr lang="en-GB" sz="1600" dirty="0" smtClean="0"/>
            </a:br>
            <a:r>
              <a:rPr lang="en-GB" sz="1600" dirty="0" smtClean="0"/>
              <a:t>v.1.1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17242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Access to the application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0447" y="1982024"/>
            <a:ext cx="44635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ECA Registry is available at the 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GB" u="sng" dirty="0">
                <a:hlinkClick r:id="rId2"/>
              </a:rPr>
              <a:t>https://registry.eca.europa.eu</a:t>
            </a:r>
            <a:endParaRPr lang="en-GB" dirty="0" smtClean="0"/>
          </a:p>
          <a:p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register your identity(s) at </a:t>
            </a:r>
            <a:r>
              <a:rPr lang="en-GB" u="sng" dirty="0">
                <a:hlinkClick r:id="rId3"/>
              </a:rPr>
              <a:t>https://</a:t>
            </a:r>
            <a:r>
              <a:rPr lang="en-GB" u="sng" dirty="0" smtClean="0">
                <a:hlinkClick r:id="rId3"/>
              </a:rPr>
              <a:t>registry.eca.europa.eu</a:t>
            </a:r>
            <a:r>
              <a:rPr lang="en-GB" dirty="0" smtClean="0">
                <a:hlinkClick r:id="rId3"/>
              </a:rPr>
              <a:t>/register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4. For support, you can contact </a:t>
            </a:r>
          </a:p>
          <a:p>
            <a:r>
              <a:rPr lang="en-GB" dirty="0" smtClean="0">
                <a:hlinkClick r:id="rId4"/>
              </a:rPr>
              <a:t>mirko.iaconisi@eca.europa.eu</a:t>
            </a:r>
            <a:r>
              <a:rPr lang="en-GB" dirty="0" smtClean="0"/>
              <a:t> </a:t>
            </a:r>
            <a:r>
              <a:rPr lang="en-GB" dirty="0" smtClean="0"/>
              <a:t>and</a:t>
            </a:r>
            <a:endParaRPr lang="en-GB" dirty="0"/>
          </a:p>
          <a:p>
            <a:r>
              <a:rPr lang="en-GB" dirty="0" smtClean="0">
                <a:hlinkClick r:id="rId5"/>
              </a:rPr>
              <a:t>denis@compell.io</a:t>
            </a:r>
            <a:r>
              <a:rPr lang="en-GB" dirty="0" smtClean="0"/>
              <a:t> 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497" y="1868141"/>
            <a:ext cx="6227303" cy="336708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11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1692" y="2371320"/>
            <a:ext cx="41851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 Connect to:</a:t>
            </a:r>
          </a:p>
          <a:p>
            <a:pPr>
              <a:lnSpc>
                <a:spcPct val="200000"/>
              </a:lnSpc>
            </a:pPr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Fill 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 the form</a:t>
            </a:r>
          </a:p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3. Press sign up</a:t>
            </a:r>
          </a:p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4. Login with your new credentials</a:t>
            </a:r>
          </a:p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5. The identity will be notarised on chain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Registration of a new identity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54017" y="2998630"/>
            <a:ext cx="3902194" cy="416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u="sng" dirty="0">
                <a:hlinkClick r:id="rId2"/>
              </a:rPr>
              <a:t>https://registry.eca.europa.eu</a:t>
            </a:r>
            <a:r>
              <a:rPr lang="en-GB" sz="1800" dirty="0">
                <a:hlinkClick r:id="rId2"/>
              </a:rPr>
              <a:t>/register</a:t>
            </a:r>
            <a:endParaRPr lang="en-GB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824" y="1867998"/>
            <a:ext cx="6458466" cy="396130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70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Notarisation of a document (1/3)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7392" y="1430543"/>
            <a:ext cx="46247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 Select “My content” from the top right menu</a:t>
            </a:r>
          </a:p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 In the section “New registration” select the file to notarise and press upload</a:t>
            </a:r>
          </a:p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3. The file appears in the list of contents, with a 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blue button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ready to be notarised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4. Click on the button “Register”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31724"/>
          <a:stretch/>
        </p:blipFill>
        <p:spPr>
          <a:xfrm>
            <a:off x="5137638" y="1497628"/>
            <a:ext cx="6804214" cy="2819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1761" y="2198081"/>
            <a:ext cx="1565031" cy="5275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0465777" y="2198081"/>
            <a:ext cx="1565031" cy="5275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r="31900" b="-849"/>
          <a:stretch/>
        </p:blipFill>
        <p:spPr>
          <a:xfrm>
            <a:off x="5238707" y="4744919"/>
            <a:ext cx="6602075" cy="1882530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8161674" y="4484076"/>
            <a:ext cx="756139" cy="5216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5301760" y="5158644"/>
            <a:ext cx="3174025" cy="13564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85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75" y="1306718"/>
            <a:ext cx="6981778" cy="48464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Notarisation of a document (2/3)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7392" y="1430543"/>
            <a:ext cx="46247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5. Specify the data type (e.g. Document)</a:t>
            </a:r>
          </a:p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6. Fill in a description to be shown in the interface</a:t>
            </a:r>
          </a:p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7. Insert as many metadata as needed with the “Add” </a:t>
            </a:r>
            <a:r>
              <a:rPr lang="en-GB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buton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and fill them in, setting as well the level of visibility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8. Click on the button “Register” to proceed with the notarisation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8329" y="2854999"/>
            <a:ext cx="453322" cy="3454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68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Notarisation of a document (3/3)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7392" y="1430543"/>
            <a:ext cx="46247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9. The registration will appear “In process” until the EBSI transaction is confirmed</a:t>
            </a:r>
          </a:p>
          <a:p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10. The button EBSI Transaction will become clickable after the confirmation is received</a:t>
            </a:r>
          </a:p>
          <a:p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11. Refresh the page after one minute (or access it again from the homepage) to verify the status change to “Registered”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12. There is a download button (highlighted in red) that allows to retrieve the document from the storage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146" y="1430543"/>
            <a:ext cx="7072313" cy="5002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799028" y="1552574"/>
            <a:ext cx="278422" cy="276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12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Visualisation of a notarisation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219200"/>
            <a:ext cx="6634332" cy="5124450"/>
          </a:xfrm>
          <a:prstGeom prst="rect">
            <a:avLst/>
          </a:prstGeom>
        </p:spPr>
      </p:pic>
      <p:sp>
        <p:nvSpPr>
          <p:cNvPr id="6" name="Line Callout 1 (Accent Bar) 5"/>
          <p:cNvSpPr/>
          <p:nvPr/>
        </p:nvSpPr>
        <p:spPr>
          <a:xfrm flipH="1">
            <a:off x="342899" y="1531689"/>
            <a:ext cx="1381125" cy="538164"/>
          </a:xfrm>
          <a:prstGeom prst="accentCallout1">
            <a:avLst>
              <a:gd name="adj1" fmla="val 18750"/>
              <a:gd name="adj2" fmla="val -8333"/>
              <a:gd name="adj3" fmla="val 116040"/>
              <a:gd name="adj4" fmla="val -6660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Hash of the document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Line Callout 1 (Accent Bar) 7"/>
          <p:cNvSpPr/>
          <p:nvPr/>
        </p:nvSpPr>
        <p:spPr>
          <a:xfrm flipH="1">
            <a:off x="342900" y="2750339"/>
            <a:ext cx="1381125" cy="538164"/>
          </a:xfrm>
          <a:prstGeom prst="accentCallout1">
            <a:avLst>
              <a:gd name="adj1" fmla="val 18750"/>
              <a:gd name="adj2" fmla="val -8333"/>
              <a:gd name="adj3" fmla="val 87721"/>
              <a:gd name="adj4" fmla="val -6316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Timestamp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Line Callout 1 (Accent Bar) 8"/>
          <p:cNvSpPr/>
          <p:nvPr/>
        </p:nvSpPr>
        <p:spPr>
          <a:xfrm flipH="1">
            <a:off x="342900" y="4507152"/>
            <a:ext cx="1381125" cy="538164"/>
          </a:xfrm>
          <a:prstGeom prst="accentCallout1">
            <a:avLst>
              <a:gd name="adj1" fmla="val 18750"/>
              <a:gd name="adj2" fmla="val -8333"/>
              <a:gd name="adj3" fmla="val 87721"/>
              <a:gd name="adj4" fmla="val -6316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Metadata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Line Callout 1 (Accent Bar) 9"/>
          <p:cNvSpPr/>
          <p:nvPr/>
        </p:nvSpPr>
        <p:spPr>
          <a:xfrm>
            <a:off x="7896224" y="365126"/>
            <a:ext cx="1381125" cy="538164"/>
          </a:xfrm>
          <a:prstGeom prst="accentCallout1">
            <a:avLst>
              <a:gd name="adj1" fmla="val 18750"/>
              <a:gd name="adj2" fmla="val -8333"/>
              <a:gd name="adj3" fmla="val 190376"/>
              <a:gd name="adj4" fmla="val -4660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Download document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Line Callout 1 (Accent Bar) 10"/>
          <p:cNvSpPr/>
          <p:nvPr/>
        </p:nvSpPr>
        <p:spPr>
          <a:xfrm>
            <a:off x="9758532" y="2434181"/>
            <a:ext cx="1985793" cy="538164"/>
          </a:xfrm>
          <a:prstGeom prst="accentCallout1">
            <a:avLst>
              <a:gd name="adj1" fmla="val 18750"/>
              <a:gd name="adj2" fmla="val -8333"/>
              <a:gd name="adj3" fmla="val -158296"/>
              <a:gd name="adj4" fmla="val -17680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Registration ID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Line Callout 1 (Accent Bar) 11"/>
          <p:cNvSpPr/>
          <p:nvPr/>
        </p:nvSpPr>
        <p:spPr>
          <a:xfrm>
            <a:off x="9758532" y="3724275"/>
            <a:ext cx="1985793" cy="876845"/>
          </a:xfrm>
          <a:prstGeom prst="accentCallout1">
            <a:avLst>
              <a:gd name="adj1" fmla="val 18750"/>
              <a:gd name="adj2" fmla="val -8333"/>
              <a:gd name="adj3" fmla="val 25942"/>
              <a:gd name="adj4" fmla="val -18296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Access to the </a:t>
            </a:r>
            <a:r>
              <a:rPr lang="en-GB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blockchain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transaction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Line Callout 1 (Accent Bar) 12"/>
          <p:cNvSpPr/>
          <p:nvPr/>
        </p:nvSpPr>
        <p:spPr>
          <a:xfrm>
            <a:off x="9758532" y="1118542"/>
            <a:ext cx="1985793" cy="538164"/>
          </a:xfrm>
          <a:prstGeom prst="accentCallout1">
            <a:avLst>
              <a:gd name="adj1" fmla="val 18750"/>
              <a:gd name="adj2" fmla="val -8333"/>
              <a:gd name="adj3" fmla="val 80641"/>
              <a:gd name="adj4" fmla="val -6360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Status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210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12" y="1244761"/>
            <a:ext cx="7337913" cy="43167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Linking notarisations (logical chain)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Line Callout 1 (Accent Bar) 10"/>
          <p:cNvSpPr/>
          <p:nvPr/>
        </p:nvSpPr>
        <p:spPr>
          <a:xfrm>
            <a:off x="9758532" y="2434181"/>
            <a:ext cx="2286930" cy="538164"/>
          </a:xfrm>
          <a:prstGeom prst="accentCallout1">
            <a:avLst>
              <a:gd name="adj1" fmla="val 18750"/>
              <a:gd name="adj2" fmla="val -8333"/>
              <a:gd name="adj3" fmla="val -184436"/>
              <a:gd name="adj4" fmla="val -402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Registration ID of the current notarisation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Line Callout 1 (Accent Bar) 11"/>
          <p:cNvSpPr/>
          <p:nvPr/>
        </p:nvSpPr>
        <p:spPr>
          <a:xfrm>
            <a:off x="9302262" y="3723342"/>
            <a:ext cx="2566621" cy="1552043"/>
          </a:xfrm>
          <a:prstGeom prst="accentCallout1">
            <a:avLst>
              <a:gd name="adj1" fmla="val 18750"/>
              <a:gd name="adj2" fmla="val -8333"/>
              <a:gd name="adj3" fmla="val 99528"/>
              <a:gd name="adj4" fmla="val -10301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Reference to a previous notarisation that has been linked to the current one</a:t>
            </a:r>
            <a:b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(clickable link)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8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37392" y="1430543"/>
            <a:ext cx="40444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 link a specific to notarisation to a previous one, you can add its Registration ID as a value among the metadata (see metadata input in slide 5)</a:t>
            </a:r>
          </a:p>
          <a:p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Registration ID can be found on top of the visualisation page (see screenshot in this slide)</a:t>
            </a:r>
          </a:p>
          <a:p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When the Registration ID of a previous notarisation is added as metadata, it will be shown (after the submission) as a relation and it will have a clickable direct link to the related registration</a:t>
            </a:r>
          </a:p>
        </p:txBody>
      </p:sp>
    </p:spTree>
    <p:extLst>
      <p:ext uri="{BB962C8B-B14F-4D97-AF65-F5344CB8AC3E}">
        <p14:creationId xmlns:p14="http://schemas.microsoft.com/office/powerpoint/2010/main" val="238655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Verifying a document notarisation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7392" y="1430543"/>
            <a:ext cx="46247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 Select “Verify existence” from the Tools menu</a:t>
            </a:r>
          </a:p>
          <a:p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 Select the file that must be verified and submit it</a:t>
            </a:r>
          </a:p>
          <a:p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3. If the hash of the file is not known to the registry, it will return “No registrations found” or else it will return the notarisation data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9615"/>
          <a:stretch/>
        </p:blipFill>
        <p:spPr>
          <a:xfrm>
            <a:off x="6367463" y="1430543"/>
            <a:ext cx="4986337" cy="1371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463" y="3233179"/>
            <a:ext cx="5353050" cy="11239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463" y="4659637"/>
            <a:ext cx="4891087" cy="6308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3" y="5452222"/>
            <a:ext cx="2447925" cy="1130326"/>
          </a:xfrm>
          <a:prstGeom prst="rect">
            <a:avLst/>
          </a:prstGeom>
        </p:spPr>
      </p:pic>
      <p:sp>
        <p:nvSpPr>
          <p:cNvPr id="11" name="Down Arrow 10"/>
          <p:cNvSpPr/>
          <p:nvPr/>
        </p:nvSpPr>
        <p:spPr>
          <a:xfrm>
            <a:off x="8552199" y="2746316"/>
            <a:ext cx="756139" cy="5216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Down Arrow 11"/>
          <p:cNvSpPr/>
          <p:nvPr/>
        </p:nvSpPr>
        <p:spPr>
          <a:xfrm>
            <a:off x="8552199" y="4096286"/>
            <a:ext cx="756139" cy="5216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9</a:t>
            </a:fld>
            <a:endParaRPr lang="en-GB"/>
          </a:p>
        </p:txBody>
      </p:sp>
      <p:sp>
        <p:nvSpPr>
          <p:cNvPr id="14" name="Line Callout 1 (Accent Bar) 13"/>
          <p:cNvSpPr/>
          <p:nvPr/>
        </p:nvSpPr>
        <p:spPr>
          <a:xfrm flipH="1">
            <a:off x="2136531" y="4612296"/>
            <a:ext cx="2998909" cy="538164"/>
          </a:xfrm>
          <a:prstGeom prst="accentCallout1">
            <a:avLst>
              <a:gd name="adj1" fmla="val 18750"/>
              <a:gd name="adj2" fmla="val -8333"/>
              <a:gd name="adj3" fmla="val 66482"/>
              <a:gd name="adj4" fmla="val -4034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 notarisations found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Line Callout 1 (Accent Bar) 14"/>
          <p:cNvSpPr/>
          <p:nvPr/>
        </p:nvSpPr>
        <p:spPr>
          <a:xfrm flipH="1">
            <a:off x="2136531" y="5818186"/>
            <a:ext cx="2998909" cy="538164"/>
          </a:xfrm>
          <a:prstGeom prst="accentCallout1">
            <a:avLst>
              <a:gd name="adj1" fmla="val 18750"/>
              <a:gd name="adj2" fmla="val -8333"/>
              <a:gd name="adj3" fmla="val 63215"/>
              <a:gd name="adj4" fmla="val -4057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There is already a notarisation for the given document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440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Authorising a Registrar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7392" y="1430543"/>
            <a:ext cx="46247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 Go to the section Registrars</a:t>
            </a:r>
          </a:p>
          <a:p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 Select a Registrar from the list on the right side (contact 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2"/>
              </a:rPr>
              <a:t>denis@compell.io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to create a new registrar, e.g. an institution, company…etc.)</a:t>
            </a:r>
          </a:p>
          <a:p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3. Click on “Authorise Registrar”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4. From now on the Registrar can notarisations on behalf of the current user and see its notarisations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555" y="1430543"/>
            <a:ext cx="6964607" cy="42625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29401" y="1430543"/>
            <a:ext cx="888024" cy="3692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5225563" y="3640343"/>
            <a:ext cx="1720360" cy="3692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84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37536"/>
          <a:stretch/>
        </p:blipFill>
        <p:spPr>
          <a:xfrm>
            <a:off x="5010882" y="1026097"/>
            <a:ext cx="6833141" cy="21215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Registrar’s dashboard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7392" y="1430543"/>
            <a:ext cx="46247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Registrar can see all the notarisations done by the users that gave their consent.</a:t>
            </a:r>
          </a:p>
          <a:p>
            <a:pPr marL="342900" indent="-342900">
              <a:buAutoNum type="arabicPeriod"/>
            </a:pPr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visible in the Dashboard 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Customers  View all registrations for a certain user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endParaRPr lang="en-GB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Registrar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also notarise on behalf of theses users</a:t>
            </a:r>
            <a:r>
              <a:rPr lang="en-GB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63608" y="976440"/>
            <a:ext cx="888024" cy="3692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5010882" y="2355041"/>
            <a:ext cx="1785572" cy="3692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8502161" y="2239657"/>
            <a:ext cx="1477108" cy="3692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146" y="3648754"/>
            <a:ext cx="5741377" cy="2847077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7451481" y="3147646"/>
            <a:ext cx="756139" cy="5216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7688873" y="736977"/>
            <a:ext cx="281354" cy="2549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GB" dirty="0"/>
          </a:p>
        </p:txBody>
      </p:sp>
      <p:sp>
        <p:nvSpPr>
          <p:cNvPr id="12" name="Oval 11"/>
          <p:cNvSpPr/>
          <p:nvPr/>
        </p:nvSpPr>
        <p:spPr>
          <a:xfrm>
            <a:off x="4795837" y="2180217"/>
            <a:ext cx="281354" cy="2549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</a:t>
            </a:r>
            <a:endParaRPr lang="en-GB" dirty="0"/>
          </a:p>
        </p:txBody>
      </p:sp>
      <p:sp>
        <p:nvSpPr>
          <p:cNvPr id="15" name="Oval 14"/>
          <p:cNvSpPr/>
          <p:nvPr/>
        </p:nvSpPr>
        <p:spPr>
          <a:xfrm>
            <a:off x="9697915" y="2038736"/>
            <a:ext cx="281354" cy="2549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</a:t>
            </a:r>
            <a:endParaRPr lang="en-GB" dirty="0"/>
          </a:p>
        </p:txBody>
      </p:sp>
      <p:sp>
        <p:nvSpPr>
          <p:cNvPr id="16" name="Line Callout 1 (Accent Bar) 15"/>
          <p:cNvSpPr/>
          <p:nvPr/>
        </p:nvSpPr>
        <p:spPr>
          <a:xfrm>
            <a:off x="10360903" y="3868615"/>
            <a:ext cx="1666973" cy="890132"/>
          </a:xfrm>
          <a:prstGeom prst="accentCallout1">
            <a:avLst>
              <a:gd name="adj1" fmla="val 18750"/>
              <a:gd name="adj2" fmla="val -8333"/>
              <a:gd name="adj3" fmla="val 15070"/>
              <a:gd name="adj4" fmla="val -2318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Notarise on behalf of the user</a:t>
            </a:r>
            <a:endParaRPr lang="en-GB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Line Callout 1 (Accent Bar) 16"/>
          <p:cNvSpPr/>
          <p:nvPr/>
        </p:nvSpPr>
        <p:spPr>
          <a:xfrm flipH="1">
            <a:off x="2459550" y="5120053"/>
            <a:ext cx="1666973" cy="890132"/>
          </a:xfrm>
          <a:prstGeom prst="accentCallout1">
            <a:avLst>
              <a:gd name="adj1" fmla="val 18750"/>
              <a:gd name="adj2" fmla="val -8333"/>
              <a:gd name="adj3" fmla="val 85201"/>
              <a:gd name="adj4" fmla="val -79091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View all the notarisation (done by the Registrar or by the user itself)</a:t>
            </a:r>
            <a:endParaRPr lang="en-GB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3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Feedback / Questions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1771582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You can address your feedback and questions to:</a:t>
            </a:r>
            <a:endParaRPr lang="en-GB" dirty="0"/>
          </a:p>
          <a:p>
            <a:r>
              <a:rPr lang="en-GB" dirty="0" smtClean="0">
                <a:hlinkClick r:id="rId2"/>
              </a:rPr>
              <a:t>mirko.iaconisi@eca.europa.eu</a:t>
            </a:r>
            <a:r>
              <a:rPr lang="en-GB" dirty="0" smtClean="0"/>
              <a:t> </a:t>
            </a:r>
            <a:r>
              <a:rPr lang="en-GB" dirty="0" smtClean="0"/>
              <a:t>and </a:t>
            </a:r>
            <a:r>
              <a:rPr lang="en-GB" dirty="0" smtClean="0">
                <a:hlinkClick r:id="rId3"/>
              </a:rPr>
              <a:t>denis@compell.io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824F8-BA0F-4D89-9CE9-9516AAEF3A9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05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667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Access to the application</vt:lpstr>
      <vt:lpstr>Registration of a new identity</vt:lpstr>
      <vt:lpstr>Notarisation of a document (1/3)</vt:lpstr>
      <vt:lpstr>Notarisation of a document (2/3)</vt:lpstr>
      <vt:lpstr>Notarisation of a document (3/3)</vt:lpstr>
      <vt:lpstr>Visualisation of a notarisation</vt:lpstr>
      <vt:lpstr>Linking notarisations (logical chain)</vt:lpstr>
      <vt:lpstr>Verifying a document notarisation</vt:lpstr>
      <vt:lpstr>Authorising a Registrar</vt:lpstr>
      <vt:lpstr>Registrar’s dashboard</vt:lpstr>
      <vt:lpstr>Feedback / Questions</vt:lpstr>
    </vt:vector>
  </TitlesOfParts>
  <Company>ECA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Mirko Iaconisi</dc:creator>
  <cp:lastModifiedBy>Mirko Iaconisi</cp:lastModifiedBy>
  <cp:revision>21</cp:revision>
  <dcterms:created xsi:type="dcterms:W3CDTF">2020-01-13T12:23:04Z</dcterms:created>
  <dcterms:modified xsi:type="dcterms:W3CDTF">2020-01-23T12:15:02Z</dcterms:modified>
</cp:coreProperties>
</file>